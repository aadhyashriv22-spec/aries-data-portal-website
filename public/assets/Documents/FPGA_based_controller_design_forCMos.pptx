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59" r:id="rId4"/>
    <p:sldId id="262" r:id="rId5"/>
    <p:sldId id="263" r:id="rId6"/>
    <p:sldId id="260" r:id="rId7"/>
    <p:sldId id="261" r:id="rId8"/>
    <p:sldId id="270" r:id="rId9"/>
    <p:sldId id="264" r:id="rId10"/>
    <p:sldId id="269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7E7"/>
    <a:srgbClr val="424B55"/>
    <a:srgbClr val="070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7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F7C5-1D20-3841-B92F-4C32FCE3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6BE7A-BD66-991D-6FB1-946BDD7F5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442BC-EC6F-FFFC-31D8-D4CCE13B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0E485-34ED-D964-15FB-5FDC14B8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CBA29-79A9-A4A7-4492-704AB0BD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58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178B-1A5D-A1B7-AB7B-39F79931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BC1AB-3C97-34C0-529D-168CECE66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F866-8ABC-73E2-2535-BBFE13AA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7DC9-E69A-FB4E-8A28-DB91AD09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CCCBC-B0D6-F2CD-6114-D6A1EE00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44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4FD4-9CE8-07C2-2C44-CE58A0EC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C2C81-6A99-7A0E-5F33-4F8E717A8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2968-9CE5-CD96-2A4A-AF5378E1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3316A-6C5E-B598-8888-A6714C301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F3015-0272-98A5-2E27-9B0F3D53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82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499B-341F-1A3B-ADD4-5D3F39A5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F6146-A785-D61A-1E72-57DCC5D20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B76FB-378A-EBE7-13F2-7F3C38F4F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55BB1-ABC5-A238-7BC5-A6C51CC7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7DB09-F93B-2E32-A6BF-20BBCF61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9BE2D-D47D-136F-9CCB-048F5BF9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94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7158-B943-4630-8BE2-767D6A15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82175-DA28-1AA2-F6A0-2DE60DA72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3D5B9-F3BF-012B-E40A-E0B74757E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BA116-F7E4-5599-35C7-9850B414A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9C1BE-3188-8B47-B18B-1BE6CF5DA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25E0CC-B0BD-0ADE-2DE4-B2C8A514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BC734-D32E-89CF-E886-0226BC4F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D2F7C-02F6-B621-3791-84B742B7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34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03F2-FAA8-0416-ED57-81BFE2903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8182B-EDF1-5711-EB10-7686EED7C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C6A01-7C09-F8B4-E1EE-0D36EA8F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0437B-8408-C621-3AE2-997C74EF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162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F70F2-1CD8-0A35-927B-D96D9042C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3FC78-F134-DE88-EB93-FF3AAE5C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B28BD-0D1D-059B-2076-C025CAE7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49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A834B-03F8-F077-97CC-585351C4B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AF017-2851-F5DB-1943-2AD75968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D7D3D-E173-F28D-AA5D-17A85FEF2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4C83C-FF8D-A537-B3A3-E8BB54713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F1AD4-1E97-0E77-4CAC-F11E262F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8E0CB-D29D-DF05-91FB-3BD0A0CF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14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E346-2489-2A8D-0291-495FA9C4E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22148-5F34-5933-16CA-E0D9866B2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392EA-0E41-FB13-47EB-356101EFB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9E619-3D90-7B02-1DB6-3C317AD6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853C9-C093-0EE7-3E79-A4D889C2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D549B-7645-5F6B-3EDA-C17907FE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69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39A6-75B6-9708-10F5-71EFDF27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E0993-3772-1DA5-AA9C-D9F5A7CBC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D5F15-A759-DD1F-24CB-FB655D29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7D4E9-8248-FE8A-8F74-6DBEA750E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904EE-4EAC-E14C-2CEF-A70EF051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359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B127F-4C57-E48D-92B1-F55E9E475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136F6-C0E3-6689-53B1-FA4DB726C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D28B8-EC4A-364D-9DD3-2808ED3E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EFD67-2B07-64B8-FA94-468B9C1B7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537B1-C627-32C8-3289-0642F79F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312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E7B875-B545-44CE-DFF3-534A5CA30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67D0D-2D37-D911-14BD-D5216CA48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72E0-527F-BD92-2613-B232E2D90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FA19B-9108-4707-9614-D81CDCA8FC8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DDA9E-7B3F-88D7-2708-DDB9DACD3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73A59-B57E-2FB6-5F3F-526322A8E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DF766-E8F2-48A6-A0F5-7D452845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64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839B-4F86-D277-A3C3-2E9E6C161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334400-9FCC-A266-FF70-41776C0D28F8}"/>
              </a:ext>
            </a:extLst>
          </p:cNvPr>
          <p:cNvSpPr/>
          <p:nvPr/>
        </p:nvSpPr>
        <p:spPr>
          <a:xfrm>
            <a:off x="-548640" y="-430924"/>
            <a:ext cx="13402792" cy="7525144"/>
          </a:xfrm>
          <a:prstGeom prst="roundRect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BBBFB-E2D7-E7CE-68B1-6F362C742097}"/>
              </a:ext>
            </a:extLst>
          </p:cNvPr>
          <p:cNvSpPr txBox="1"/>
          <p:nvPr/>
        </p:nvSpPr>
        <p:spPr>
          <a:xfrm>
            <a:off x="2700764" y="1536174"/>
            <a:ext cx="67904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based controller design for CMOS camera sensor</a:t>
            </a:r>
          </a:p>
        </p:txBody>
      </p:sp>
    </p:spTree>
    <p:extLst>
      <p:ext uri="{BB962C8B-B14F-4D97-AF65-F5344CB8AC3E}">
        <p14:creationId xmlns:p14="http://schemas.microsoft.com/office/powerpoint/2010/main" val="91706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398C-0AAB-F001-6C7B-5E4A72A25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A038E9-9BEB-1510-1E38-8FDDCEFA727D}"/>
              </a:ext>
            </a:extLst>
          </p:cNvPr>
          <p:cNvSpPr/>
          <p:nvPr/>
        </p:nvSpPr>
        <p:spPr>
          <a:xfrm>
            <a:off x="-548640" y="-430924"/>
            <a:ext cx="13402792" cy="7525144"/>
          </a:xfrm>
          <a:prstGeom prst="roundRect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92727E-AA88-7D29-3620-8F859B57FB2F}"/>
              </a:ext>
            </a:extLst>
          </p:cNvPr>
          <p:cNvSpPr txBox="1"/>
          <p:nvPr/>
        </p:nvSpPr>
        <p:spPr>
          <a:xfrm>
            <a:off x="-790378" y="445884"/>
            <a:ext cx="4602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78E8-2024-5D2A-EE1F-B48146C0DB8F}"/>
              </a:ext>
            </a:extLst>
          </p:cNvPr>
          <p:cNvSpPr txBox="1"/>
          <p:nvPr/>
        </p:nvSpPr>
        <p:spPr>
          <a:xfrm>
            <a:off x="157655" y="1923393"/>
            <a:ext cx="338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D8DA6-4A47-597E-F5AC-F8BC544C82FF}"/>
              </a:ext>
            </a:extLst>
          </p:cNvPr>
          <p:cNvSpPr txBox="1"/>
          <p:nvPr/>
        </p:nvSpPr>
        <p:spPr>
          <a:xfrm>
            <a:off x="241738" y="1923393"/>
            <a:ext cx="5181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FPGAs and LUTs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Zynq Ultra scale plus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GSENSE2020 Camera sensor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Protocol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LVDS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mapping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Config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O/P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38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65A4D2-FD13-47E9-379C-F45622346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37" y="2347110"/>
            <a:ext cx="2072640" cy="2485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E316E5-DE54-8796-7A52-9E3651082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540" y="2900329"/>
            <a:ext cx="765628" cy="7656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2EF221-04FF-A449-293C-39EC14FB4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057" y="4050840"/>
            <a:ext cx="853634" cy="853634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CC2882F-15DA-4AED-6CF4-0BD5AC944FB0}"/>
              </a:ext>
            </a:extLst>
          </p:cNvPr>
          <p:cNvCxnSpPr>
            <a:cxnSpLocks/>
          </p:cNvCxnSpPr>
          <p:nvPr/>
        </p:nvCxnSpPr>
        <p:spPr>
          <a:xfrm>
            <a:off x="2030139" y="4559808"/>
            <a:ext cx="1536021" cy="0"/>
          </a:xfrm>
          <a:prstGeom prst="line">
            <a:avLst/>
          </a:prstGeom>
          <a:ln w="38100">
            <a:solidFill>
              <a:srgbClr val="424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BDFA0E6-63D0-F39C-EC64-E438C398E71B}"/>
              </a:ext>
            </a:extLst>
          </p:cNvPr>
          <p:cNvSpPr txBox="1"/>
          <p:nvPr/>
        </p:nvSpPr>
        <p:spPr>
          <a:xfrm>
            <a:off x="3733663" y="4891508"/>
            <a:ext cx="312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B0F37F-8092-F5CB-9551-669B7471F7D0}"/>
              </a:ext>
            </a:extLst>
          </p:cNvPr>
          <p:cNvSpPr txBox="1"/>
          <p:nvPr/>
        </p:nvSpPr>
        <p:spPr>
          <a:xfrm>
            <a:off x="3761292" y="3619442"/>
            <a:ext cx="289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AC995AA-2F9B-F2B7-851F-00D837218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798" y="3168286"/>
            <a:ext cx="1328506" cy="132850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83C0E2-F23F-3CC7-97CA-9BC27EE80C62}"/>
              </a:ext>
            </a:extLst>
          </p:cNvPr>
          <p:cNvCxnSpPr>
            <a:cxnSpLocks/>
          </p:cNvCxnSpPr>
          <p:nvPr/>
        </p:nvCxnSpPr>
        <p:spPr>
          <a:xfrm flipH="1">
            <a:off x="3233123" y="3056617"/>
            <a:ext cx="362237" cy="0"/>
          </a:xfrm>
          <a:prstGeom prst="line">
            <a:avLst/>
          </a:prstGeom>
          <a:ln w="28575">
            <a:solidFill>
              <a:srgbClr val="424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6A8956F-B39F-3BF6-48CF-16C559F5E57B}"/>
              </a:ext>
            </a:extLst>
          </p:cNvPr>
          <p:cNvSpPr txBox="1"/>
          <p:nvPr/>
        </p:nvSpPr>
        <p:spPr>
          <a:xfrm>
            <a:off x="5307398" y="4448710"/>
            <a:ext cx="247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D7692F1-3350-9CB3-1193-4D9FFD4E6981}"/>
              </a:ext>
            </a:extLst>
          </p:cNvPr>
          <p:cNvCxnSpPr>
            <a:cxnSpLocks/>
          </p:cNvCxnSpPr>
          <p:nvPr/>
        </p:nvCxnSpPr>
        <p:spPr>
          <a:xfrm>
            <a:off x="2055463" y="4234688"/>
            <a:ext cx="1510697" cy="0"/>
          </a:xfrm>
          <a:prstGeom prst="line">
            <a:avLst/>
          </a:prstGeom>
          <a:ln w="38100">
            <a:solidFill>
              <a:srgbClr val="424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A65B902-51BF-BD07-3EED-DFEC391786B7}"/>
              </a:ext>
            </a:extLst>
          </p:cNvPr>
          <p:cNvCxnSpPr>
            <a:cxnSpLocks/>
          </p:cNvCxnSpPr>
          <p:nvPr/>
        </p:nvCxnSpPr>
        <p:spPr>
          <a:xfrm flipV="1">
            <a:off x="2030139" y="3942259"/>
            <a:ext cx="1536021" cy="5623"/>
          </a:xfrm>
          <a:prstGeom prst="line">
            <a:avLst/>
          </a:prstGeom>
          <a:ln w="38100">
            <a:solidFill>
              <a:srgbClr val="424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F3BDDA1-A73F-3E8A-A131-5517800231E7}"/>
              </a:ext>
            </a:extLst>
          </p:cNvPr>
          <p:cNvCxnSpPr>
            <a:cxnSpLocks/>
          </p:cNvCxnSpPr>
          <p:nvPr/>
        </p:nvCxnSpPr>
        <p:spPr>
          <a:xfrm flipV="1">
            <a:off x="2055463" y="3665957"/>
            <a:ext cx="1211166" cy="14176"/>
          </a:xfrm>
          <a:prstGeom prst="line">
            <a:avLst/>
          </a:prstGeom>
          <a:ln w="38100">
            <a:solidFill>
              <a:srgbClr val="424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B854D62-F0AF-0BE0-067B-C1D4FE43BCC4}"/>
              </a:ext>
            </a:extLst>
          </p:cNvPr>
          <p:cNvCxnSpPr>
            <a:cxnSpLocks/>
          </p:cNvCxnSpPr>
          <p:nvPr/>
        </p:nvCxnSpPr>
        <p:spPr>
          <a:xfrm flipV="1">
            <a:off x="3243283" y="3056617"/>
            <a:ext cx="0" cy="623516"/>
          </a:xfrm>
          <a:prstGeom prst="line">
            <a:avLst/>
          </a:prstGeom>
          <a:ln w="38100">
            <a:solidFill>
              <a:srgbClr val="424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B191A4E-0536-56F2-EA11-41931C645CF9}"/>
              </a:ext>
            </a:extLst>
          </p:cNvPr>
          <p:cNvCxnSpPr>
            <a:cxnSpLocks/>
          </p:cNvCxnSpPr>
          <p:nvPr/>
        </p:nvCxnSpPr>
        <p:spPr>
          <a:xfrm>
            <a:off x="4245987" y="3208926"/>
            <a:ext cx="610493" cy="260714"/>
          </a:xfrm>
          <a:prstGeom prst="line">
            <a:avLst/>
          </a:prstGeom>
          <a:ln w="38100">
            <a:solidFill>
              <a:srgbClr val="424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BEC817B-4713-AE59-21B4-A33DEA4C9F67}"/>
              </a:ext>
            </a:extLst>
          </p:cNvPr>
          <p:cNvCxnSpPr>
            <a:cxnSpLocks/>
          </p:cNvCxnSpPr>
          <p:nvPr/>
        </p:nvCxnSpPr>
        <p:spPr>
          <a:xfrm flipV="1">
            <a:off x="3566160" y="3354331"/>
            <a:ext cx="0" cy="587928"/>
          </a:xfrm>
          <a:prstGeom prst="line">
            <a:avLst/>
          </a:prstGeom>
          <a:ln w="38100">
            <a:solidFill>
              <a:srgbClr val="424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71E6A20-B021-9294-D717-B2CC8DA9EBB6}"/>
              </a:ext>
            </a:extLst>
          </p:cNvPr>
          <p:cNvSpPr txBox="1"/>
          <p:nvPr/>
        </p:nvSpPr>
        <p:spPr>
          <a:xfrm>
            <a:off x="-22490" y="-17321"/>
            <a:ext cx="12185117" cy="369332"/>
          </a:xfrm>
          <a:prstGeom prst="rect">
            <a:avLst/>
          </a:prstGeom>
          <a:solidFill>
            <a:srgbClr val="B4C7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FPGAs and LUTs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124F8D6-00BB-02E3-251B-C628C8B30846}"/>
              </a:ext>
            </a:extLst>
          </p:cNvPr>
          <p:cNvSpPr/>
          <p:nvPr/>
        </p:nvSpPr>
        <p:spPr>
          <a:xfrm>
            <a:off x="660400" y="3168286"/>
            <a:ext cx="971202" cy="1588464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A0D7285-3A19-F38F-3B98-CCC4B79CDDC6}"/>
              </a:ext>
            </a:extLst>
          </p:cNvPr>
          <p:cNvCxnSpPr>
            <a:cxnSpLocks/>
          </p:cNvCxnSpPr>
          <p:nvPr/>
        </p:nvCxnSpPr>
        <p:spPr>
          <a:xfrm flipV="1">
            <a:off x="4245987" y="3942259"/>
            <a:ext cx="610493" cy="457021"/>
          </a:xfrm>
          <a:prstGeom prst="line">
            <a:avLst/>
          </a:prstGeom>
          <a:ln w="38100">
            <a:solidFill>
              <a:srgbClr val="424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7567D8C-F4D9-A332-3F17-665E47C01963}"/>
              </a:ext>
            </a:extLst>
          </p:cNvPr>
          <p:cNvSpPr txBox="1"/>
          <p:nvPr/>
        </p:nvSpPr>
        <p:spPr>
          <a:xfrm>
            <a:off x="3695934" y="2913642"/>
            <a:ext cx="373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E67CC45-C611-2389-CE96-E810A26F8151}"/>
              </a:ext>
            </a:extLst>
          </p:cNvPr>
          <p:cNvSpPr txBox="1"/>
          <p:nvPr/>
        </p:nvSpPr>
        <p:spPr>
          <a:xfrm>
            <a:off x="3685328" y="3200783"/>
            <a:ext cx="589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CC08556-68C3-11DC-FAEF-617E7C076E7E}"/>
              </a:ext>
            </a:extLst>
          </p:cNvPr>
          <p:cNvSpPr txBox="1"/>
          <p:nvPr/>
        </p:nvSpPr>
        <p:spPr>
          <a:xfrm>
            <a:off x="3643052" y="4122281"/>
            <a:ext cx="373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0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07ADADD-993A-9A84-C974-8B62D3C5E7F6}"/>
              </a:ext>
            </a:extLst>
          </p:cNvPr>
          <p:cNvSpPr txBox="1"/>
          <p:nvPr/>
        </p:nvSpPr>
        <p:spPr>
          <a:xfrm>
            <a:off x="3656575" y="4427791"/>
            <a:ext cx="373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DF42D06-4F08-C671-FA70-789CD6065C7F}"/>
              </a:ext>
            </a:extLst>
          </p:cNvPr>
          <p:cNvSpPr txBox="1"/>
          <p:nvPr/>
        </p:nvSpPr>
        <p:spPr>
          <a:xfrm>
            <a:off x="5102676" y="3331140"/>
            <a:ext cx="373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A64C552-0FBB-4CFE-3CC1-955EEEAB8E80}"/>
              </a:ext>
            </a:extLst>
          </p:cNvPr>
          <p:cNvSpPr txBox="1"/>
          <p:nvPr/>
        </p:nvSpPr>
        <p:spPr>
          <a:xfrm>
            <a:off x="5133502" y="3824018"/>
            <a:ext cx="373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7D65CF2-2005-196D-FD35-BA14A7F8898D}"/>
              </a:ext>
            </a:extLst>
          </p:cNvPr>
          <p:cNvSpPr txBox="1"/>
          <p:nvPr/>
        </p:nvSpPr>
        <p:spPr>
          <a:xfrm>
            <a:off x="6031795" y="3555540"/>
            <a:ext cx="430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O/P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FCB1A9A8-7E25-64C8-D5A6-D8739CD45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3" t="37238" r="21930" b="4284"/>
          <a:stretch>
            <a:fillRect/>
          </a:stretch>
        </p:blipFill>
        <p:spPr>
          <a:xfrm>
            <a:off x="1777261" y="3285625"/>
            <a:ext cx="182880" cy="1410697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D496C15-9E55-9FF2-1E95-97CCA06180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904" y="1789752"/>
            <a:ext cx="5524377" cy="3717085"/>
          </a:xfrm>
          <a:prstGeom prst="rect">
            <a:avLst/>
          </a:prstGeom>
        </p:spPr>
      </p:pic>
      <p:sp>
        <p:nvSpPr>
          <p:cNvPr id="124" name="Rectangle 2">
            <a:extLst>
              <a:ext uri="{FF2B5EF4-FFF2-40B4-BE49-F238E27FC236}">
                <a16:creationId xmlns:a16="http://schemas.microsoft.com/office/drawing/2014/main" id="{DCCEB37F-9214-B2B8-6723-B334FDC93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08" y="5677258"/>
            <a:ext cx="11563319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Total possible functions: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2^{(2^2)} = 2^4 =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16 unique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5" name="Rectangle 3">
            <a:extLst>
              <a:ext uri="{FF2B5EF4-FFF2-40B4-BE49-F238E27FC236}">
                <a16:creationId xmlns:a16="http://schemas.microsoft.com/office/drawing/2014/main" id="{B1502D67-572D-1AAD-A374-3E2823D84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423" y="6031425"/>
            <a:ext cx="1166171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Total possible functions: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2^{(2^6)} = 2^{64} 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18,446,744,073,709,551,616 unique functions</a:t>
            </a:r>
            <a:r>
              <a:rPr lang="en-US" altLang="en-US" dirty="0">
                <a:latin typeface="Google Sans Text"/>
              </a:rPr>
              <a:t>,</a:t>
            </a:r>
            <a:r>
              <a:rPr lang="en-IN" dirty="0"/>
              <a:t>18 quintillion functions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23A68A-6CC1-946E-2D93-ED9B40042D53}"/>
              </a:ext>
            </a:extLst>
          </p:cNvPr>
          <p:cNvSpPr txBox="1"/>
          <p:nvPr/>
        </p:nvSpPr>
        <p:spPr>
          <a:xfrm>
            <a:off x="171308" y="1040837"/>
            <a:ext cx="5619892" cy="923330"/>
          </a:xfrm>
          <a:prstGeom prst="rect">
            <a:avLst/>
          </a:prstGeom>
          <a:solidFill>
            <a:srgbClr val="B4C7E7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 </a:t>
            </a:r>
            <a:r>
              <a:rPr lang="en-US" b="1" dirty="0"/>
              <a:t>field-programmable gate array</a:t>
            </a:r>
            <a:r>
              <a:rPr lang="en-US" dirty="0"/>
              <a:t> (</a:t>
            </a:r>
            <a:r>
              <a:rPr lang="en-US" b="1" dirty="0"/>
              <a:t>FPGA</a:t>
            </a:r>
            <a:r>
              <a:rPr lang="en-US" dirty="0"/>
              <a:t>) is a type of configurable integrated circuit that can be repeatedly programmed after manufacturing.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15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FBD3C-5D81-91BF-E943-C65D29917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378" y="1209040"/>
            <a:ext cx="7179622" cy="4763891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41497554-B322-2C98-F096-275FA190A4E6}"/>
              </a:ext>
            </a:extLst>
          </p:cNvPr>
          <p:cNvSpPr/>
          <p:nvPr/>
        </p:nvSpPr>
        <p:spPr>
          <a:xfrm>
            <a:off x="0" y="2032"/>
            <a:ext cx="12192000" cy="363728"/>
          </a:xfrm>
          <a:prstGeom prst="rect">
            <a:avLst/>
          </a:prstGeom>
          <a:solidFill>
            <a:srgbClr val="B4C7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FPGA Board — Zynq UltraScale+ MPSoC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A2A24-4556-765D-1248-2536328B9AAC}"/>
              </a:ext>
            </a:extLst>
          </p:cNvPr>
          <p:cNvSpPr txBox="1"/>
          <p:nvPr/>
        </p:nvSpPr>
        <p:spPr>
          <a:xfrm>
            <a:off x="167640" y="1209040"/>
            <a:ext cx="169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Features: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4F2DFB-EF08-AAA3-79CE-B9229024667B}"/>
              </a:ext>
            </a:extLst>
          </p:cNvPr>
          <p:cNvSpPr txBox="1"/>
          <p:nvPr/>
        </p:nvSpPr>
        <p:spPr>
          <a:xfrm>
            <a:off x="231140" y="2255520"/>
            <a:ext cx="4727898" cy="1754326"/>
          </a:xfrm>
          <a:prstGeom prst="rect">
            <a:avLst/>
          </a:prstGeom>
          <a:solidFill>
            <a:srgbClr val="B4C7E7"/>
          </a:solidFill>
          <a:ln>
            <a:solidFill>
              <a:srgbClr val="B4C7E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logic cells 504,000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DSP Slices 1728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2x FPGA mezzanine card (FMC) interfaces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DDR4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a hardwired H.265 video codec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17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47DD-52A4-0750-8BAA-DECBD190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EBB55-D505-8BC8-270D-F1A761BFE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3" t="14074" r="27167" b="11407"/>
          <a:stretch>
            <a:fillRect/>
          </a:stretch>
        </p:blipFill>
        <p:spPr>
          <a:xfrm>
            <a:off x="6332528" y="1117600"/>
            <a:ext cx="5554671" cy="5007168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E44AE163-9FA8-4096-F2E6-D3AB5027B60E}"/>
              </a:ext>
            </a:extLst>
          </p:cNvPr>
          <p:cNvSpPr/>
          <p:nvPr/>
        </p:nvSpPr>
        <p:spPr>
          <a:xfrm>
            <a:off x="0" y="2032"/>
            <a:ext cx="12192000" cy="363728"/>
          </a:xfrm>
          <a:prstGeom prst="rect">
            <a:avLst/>
          </a:prstGeom>
          <a:solidFill>
            <a:srgbClr val="B4C7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GSENSE2020 BSI camera sensor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C95C2-F080-8198-1D74-9DCFCFA60CA2}"/>
              </a:ext>
            </a:extLst>
          </p:cNvPr>
          <p:cNvSpPr txBox="1"/>
          <p:nvPr/>
        </p:nvSpPr>
        <p:spPr>
          <a:xfrm>
            <a:off x="388884" y="1859339"/>
            <a:ext cx="5110480" cy="3139321"/>
          </a:xfrm>
          <a:prstGeom prst="rect">
            <a:avLst/>
          </a:prstGeom>
          <a:solidFill>
            <a:srgbClr val="B4C7E7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Pixel Array 2048 x 2048 (</a:t>
            </a:r>
            <a:r>
              <a:rPr lang="el-GR" dirty="0"/>
              <a:t>6.5μ</a:t>
            </a:r>
            <a:r>
              <a:rPr lang="en-IN" dirty="0"/>
              <a:t>m Square Pixels )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sensor uses a maximum of 16 LVDS output pairs.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 chip Analog Temp. Sensor and Digital Temp. Sensor.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11 bit and 12 bit ADC.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For configuring data it uses SPI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Shutter type: Rolling shutter with Global reset.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22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4D5B75-DA8D-F31F-D8D0-445E86E71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3" t="26667" r="11499" b="13481"/>
          <a:stretch>
            <a:fillRect/>
          </a:stretch>
        </p:blipFill>
        <p:spPr>
          <a:xfrm>
            <a:off x="5191760" y="2286000"/>
            <a:ext cx="6570050" cy="279400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6D958B4C-5E93-D9D3-5A30-1C7A28C36CA5}"/>
              </a:ext>
            </a:extLst>
          </p:cNvPr>
          <p:cNvSpPr/>
          <p:nvPr/>
        </p:nvSpPr>
        <p:spPr>
          <a:xfrm>
            <a:off x="0" y="2032"/>
            <a:ext cx="12192000" cy="363728"/>
          </a:xfrm>
          <a:prstGeom prst="rect">
            <a:avLst/>
          </a:prstGeom>
          <a:solidFill>
            <a:srgbClr val="B4C7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SPI protocol to configure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A2922-07F4-2375-99CB-059C7CFF243E}"/>
              </a:ext>
            </a:extLst>
          </p:cNvPr>
          <p:cNvSpPr txBox="1"/>
          <p:nvPr/>
        </p:nvSpPr>
        <p:spPr>
          <a:xfrm>
            <a:off x="430190" y="2217678"/>
            <a:ext cx="4338320" cy="2862322"/>
          </a:xfrm>
          <a:prstGeom prst="rect">
            <a:avLst/>
          </a:prstGeom>
          <a:solidFill>
            <a:srgbClr val="B4C7E7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Serial peripheral interface is a full duplex, master slave serial communication protocol here it is used for short comm b/w FPGAs and camera sensor.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is used to do register mapping of camera sensor which controls bias voltages, ADC gains, exposure time and much more.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also reads out the same register mapped data before exposure.</a:t>
            </a:r>
          </a:p>
        </p:txBody>
      </p:sp>
    </p:spTree>
    <p:extLst>
      <p:ext uri="{BB962C8B-B14F-4D97-AF65-F5344CB8AC3E}">
        <p14:creationId xmlns:p14="http://schemas.microsoft.com/office/powerpoint/2010/main" val="177104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617513-D9A7-865B-26C5-C06974589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0" b="4149"/>
          <a:stretch>
            <a:fillRect/>
          </a:stretch>
        </p:blipFill>
        <p:spPr>
          <a:xfrm>
            <a:off x="0" y="853440"/>
            <a:ext cx="12192000" cy="569976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B65FC3B-E340-7328-F59E-56D7AF27588C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B4C7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SPI Protocol Block diagram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44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90564C7F-C5E6-2491-5CA1-0527A4C51B8C}"/>
              </a:ext>
            </a:extLst>
          </p:cNvPr>
          <p:cNvSpPr/>
          <p:nvPr/>
        </p:nvSpPr>
        <p:spPr>
          <a:xfrm>
            <a:off x="0" y="2032"/>
            <a:ext cx="12192000" cy="363728"/>
          </a:xfrm>
          <a:prstGeom prst="rect">
            <a:avLst/>
          </a:prstGeom>
          <a:solidFill>
            <a:srgbClr val="B4C7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LVDS O/P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E1DDE-AE86-010C-E362-0DD3EF04D90B}"/>
              </a:ext>
            </a:extLst>
          </p:cNvPr>
          <p:cNvSpPr txBox="1"/>
          <p:nvPr/>
        </p:nvSpPr>
        <p:spPr>
          <a:xfrm>
            <a:off x="0" y="1664947"/>
            <a:ext cx="61188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Let’s look at a standard LVDS output running with a base voltage (common-mode voltage) of 1.2V and a tiny swing of just 0.35V (350mV).</a:t>
            </a:r>
          </a:p>
          <a:p>
            <a:r>
              <a:rPr lang="en-US" b="1" dirty="0"/>
              <a:t>Sending a Logic "1" (High):</a:t>
            </a:r>
            <a:endParaRPr lang="en-US" dirty="0"/>
          </a:p>
          <a:p>
            <a:r>
              <a:rPr lang="en-US" dirty="0"/>
              <a:t>The transmitter drives the _P wire slightly up to </a:t>
            </a:r>
            <a:r>
              <a:rPr lang="en-US" b="1" dirty="0"/>
              <a:t>1.375V</a:t>
            </a:r>
            <a:r>
              <a:rPr lang="en-US" dirty="0"/>
              <a:t>.</a:t>
            </a:r>
          </a:p>
          <a:p>
            <a:r>
              <a:rPr lang="en-US" dirty="0"/>
              <a:t>Simultaneously, it drives the _N wire slightly down to </a:t>
            </a:r>
            <a:r>
              <a:rPr lang="en-US" b="1" dirty="0"/>
              <a:t>1.025V</a:t>
            </a:r>
            <a:r>
              <a:rPr lang="en-US" dirty="0"/>
              <a:t>.</a:t>
            </a:r>
          </a:p>
          <a:p>
            <a:r>
              <a:rPr lang="en-US" dirty="0"/>
              <a:t>The receiver subtracts the two: 1.375V - 1.025V = +0.350V.</a:t>
            </a:r>
          </a:p>
          <a:p>
            <a:r>
              <a:rPr lang="en-US" dirty="0"/>
              <a:t>Seeing a positive difference, the receiver registers a </a:t>
            </a:r>
            <a:r>
              <a:rPr lang="en-US" b="1" dirty="0"/>
              <a:t>"1"</a:t>
            </a:r>
            <a:r>
              <a:rPr lang="en-US" dirty="0"/>
              <a:t>.</a:t>
            </a:r>
          </a:p>
          <a:p>
            <a:r>
              <a:rPr lang="en-US" b="1" dirty="0"/>
              <a:t>Sending a Logic "0" (Low):</a:t>
            </a:r>
            <a:endParaRPr lang="en-US" dirty="0"/>
          </a:p>
          <a:p>
            <a:r>
              <a:rPr lang="en-US" dirty="0"/>
              <a:t>The transmitter drives the _P wire slightly down to </a:t>
            </a:r>
            <a:r>
              <a:rPr lang="en-US" b="1" dirty="0"/>
              <a:t>1.025V</a:t>
            </a:r>
            <a:r>
              <a:rPr lang="en-US" dirty="0"/>
              <a:t>.</a:t>
            </a:r>
          </a:p>
          <a:p>
            <a:r>
              <a:rPr lang="en-US" dirty="0"/>
              <a:t>Simultaneously, it drives the _N wire slightly up to </a:t>
            </a:r>
            <a:r>
              <a:rPr lang="en-US" b="1" dirty="0"/>
              <a:t>1.375V</a:t>
            </a:r>
            <a:r>
              <a:rPr lang="en-US" dirty="0"/>
              <a:t>.</a:t>
            </a:r>
          </a:p>
          <a:p>
            <a:r>
              <a:rPr lang="en-US" dirty="0"/>
              <a:t>The receiver subtracts the two: 1.025V - 1.375V = -0.350V.</a:t>
            </a:r>
          </a:p>
          <a:p>
            <a:r>
              <a:rPr lang="en-US" dirty="0"/>
              <a:t>Seeing a negative difference, the receiver registers a </a:t>
            </a:r>
            <a:r>
              <a:rPr lang="en-US" b="1" dirty="0"/>
              <a:t>"0"</a:t>
            </a:r>
            <a:r>
              <a:rPr lang="en-US" dirty="0"/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D10F47-BC0B-7120-8E17-559E6993A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244" y="729525"/>
            <a:ext cx="5272346" cy="25917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64F76C-92CF-2E93-A04B-5D94DAB5AABC}"/>
              </a:ext>
            </a:extLst>
          </p:cNvPr>
          <p:cNvSpPr txBox="1"/>
          <p:nvPr/>
        </p:nvSpPr>
        <p:spPr>
          <a:xfrm>
            <a:off x="6687244" y="3730910"/>
            <a:ext cx="5185063" cy="2031325"/>
          </a:xfrm>
          <a:prstGeom prst="rect">
            <a:avLst/>
          </a:prstGeom>
          <a:solidFill>
            <a:srgbClr val="B4C7E7"/>
          </a:solidFill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/>
              <a:t>Imagine your camera board is next to a noisy motor, and it injects a massive spike of </a:t>
            </a:r>
            <a:r>
              <a:rPr lang="en-US" b="1" dirty="0"/>
              <a:t>+0.5V</a:t>
            </a:r>
            <a:r>
              <a:rPr lang="en-US" dirty="0"/>
              <a:t> onto your data lines right as you are sending a logic "1".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</a:rPr>
              <a:t>_P</a:t>
            </a:r>
            <a:r>
              <a:rPr lang="en-US" dirty="0"/>
              <a:t> wire jumps from 1.375V to </a:t>
            </a:r>
            <a:r>
              <a:rPr lang="en-US" b="1" dirty="0"/>
              <a:t>1.875V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</a:rPr>
              <a:t>_N</a:t>
            </a:r>
            <a:r>
              <a:rPr lang="en-US" dirty="0"/>
              <a:t> wire jumps from 1.025V to </a:t>
            </a:r>
            <a:r>
              <a:rPr lang="en-US" b="1" dirty="0"/>
              <a:t>1.525V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What does the receiver see? It subtracts the two wires: </a:t>
            </a:r>
            <a:r>
              <a:rPr lang="en-US" dirty="0">
                <a:latin typeface="Courier New" panose="02070309020205020404" pitchFamily="49" charset="0"/>
              </a:rPr>
              <a:t>1.875V - 1.525V = +0.350V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8146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342E04-9839-E0FC-5FC4-21AC275BF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27"/>
          <a:stretch>
            <a:fillRect/>
          </a:stretch>
        </p:blipFill>
        <p:spPr>
          <a:xfrm>
            <a:off x="185420" y="1927860"/>
            <a:ext cx="8244392" cy="4297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5C2BAA-668B-4BCB-89E1-0CC706D614F5}"/>
              </a:ext>
            </a:extLst>
          </p:cNvPr>
          <p:cNvSpPr txBox="1"/>
          <p:nvPr/>
        </p:nvSpPr>
        <p:spPr>
          <a:xfrm>
            <a:off x="9044940" y="2553206"/>
            <a:ext cx="2875732" cy="3046988"/>
          </a:xfrm>
          <a:prstGeom prst="rect">
            <a:avLst/>
          </a:prstGeom>
          <a:solidFill>
            <a:srgbClr val="CCDEFD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1600" dirty="0"/>
              <a:t>So here I have assigned the package pins to the output ports that we decided in the block diagram.</a:t>
            </a:r>
          </a:p>
          <a:p>
            <a:pPr algn="just"/>
            <a:r>
              <a:rPr lang="en-IN" sz="1600" dirty="0"/>
              <a:t>After assigning the ports we run synthesis and implementation so that the circuit gets implemented in the LUTs.</a:t>
            </a:r>
          </a:p>
          <a:p>
            <a:pPr algn="just"/>
            <a:r>
              <a:rPr lang="en-IN" sz="1600" dirty="0"/>
              <a:t>After that we generate bitstream and transfer the bitstream .XSA file to the vits software.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280EEF0-DFEC-FAD2-2B0D-1495AB0EFD9C}"/>
              </a:ext>
            </a:extLst>
          </p:cNvPr>
          <p:cNvSpPr/>
          <p:nvPr/>
        </p:nvSpPr>
        <p:spPr>
          <a:xfrm>
            <a:off x="0" y="2032"/>
            <a:ext cx="12192000" cy="363728"/>
          </a:xfrm>
          <a:prstGeom prst="rect">
            <a:avLst/>
          </a:prstGeom>
          <a:solidFill>
            <a:srgbClr val="B4C7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Pin mapping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549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D6A142-F3C7-C692-76AE-5EC8C5EC5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6" t="-111" r="39584" b="16555"/>
          <a:stretch>
            <a:fillRect/>
          </a:stretch>
        </p:blipFill>
        <p:spPr>
          <a:xfrm>
            <a:off x="60960" y="1226820"/>
            <a:ext cx="6240780" cy="5204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A54CBC-EDFD-9D94-D70F-4E34F7A37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9" t="17360" r="30045" b="5957"/>
          <a:stretch>
            <a:fillRect/>
          </a:stretch>
        </p:blipFill>
        <p:spPr>
          <a:xfrm>
            <a:off x="7200900" y="1226820"/>
            <a:ext cx="4709160" cy="507492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FB96B6B1-8588-0DA8-D70B-E12366830466}"/>
              </a:ext>
            </a:extLst>
          </p:cNvPr>
          <p:cNvSpPr/>
          <p:nvPr/>
        </p:nvSpPr>
        <p:spPr>
          <a:xfrm>
            <a:off x="0" y="2032"/>
            <a:ext cx="12192000" cy="363728"/>
          </a:xfrm>
          <a:prstGeom prst="rect">
            <a:avLst/>
          </a:prstGeom>
          <a:solidFill>
            <a:srgbClr val="B4C7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Sensor Config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652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07754E-B32B-7B92-4322-5B291EDA4C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13663" r="25191" b="6758"/>
          <a:stretch>
            <a:fillRect/>
          </a:stretch>
        </p:blipFill>
        <p:spPr>
          <a:xfrm>
            <a:off x="8457184" y="673537"/>
            <a:ext cx="3165060" cy="251387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073CE6-6C6F-4CD2-FCDA-F9BC0EBBA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2" r="24356" b="12500"/>
          <a:stretch>
            <a:fillRect/>
          </a:stretch>
        </p:blipFill>
        <p:spPr>
          <a:xfrm>
            <a:off x="8457184" y="3924990"/>
            <a:ext cx="3165060" cy="24743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F2B274-313A-5F17-9981-02E3CC882B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7" t="13037" r="6875" b="4148"/>
          <a:stretch>
            <a:fillRect/>
          </a:stretch>
        </p:blipFill>
        <p:spPr>
          <a:xfrm>
            <a:off x="199932" y="944880"/>
            <a:ext cx="7399708" cy="5230257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B9102ED8-6E40-4412-A4BF-BA33BB929D53}"/>
              </a:ext>
            </a:extLst>
          </p:cNvPr>
          <p:cNvSpPr/>
          <p:nvPr/>
        </p:nvSpPr>
        <p:spPr>
          <a:xfrm>
            <a:off x="0" y="2032"/>
            <a:ext cx="12192000" cy="363728"/>
          </a:xfrm>
          <a:prstGeom prst="rect">
            <a:avLst/>
          </a:prstGeom>
          <a:solidFill>
            <a:srgbClr val="B4C7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SPI output (SCLK and MOSI line)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D33AE1-3DA5-8BD9-CCF3-CD80456B7762}"/>
              </a:ext>
            </a:extLst>
          </p:cNvPr>
          <p:cNvSpPr txBox="1"/>
          <p:nvPr/>
        </p:nvSpPr>
        <p:spPr>
          <a:xfrm>
            <a:off x="3221736" y="6297168"/>
            <a:ext cx="969264" cy="338554"/>
          </a:xfrm>
          <a:prstGeom prst="rect">
            <a:avLst/>
          </a:prstGeom>
          <a:solidFill>
            <a:srgbClr val="B4C7E7"/>
          </a:solidFill>
          <a:ln>
            <a:solidFill>
              <a:srgbClr val="B4C7E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A</a:t>
            </a:r>
          </a:p>
          <a:p>
            <a:pPr algn="ctr"/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46460-777C-212D-0449-5C2D8F2C5533}"/>
              </a:ext>
            </a:extLst>
          </p:cNvPr>
          <p:cNvSpPr txBox="1"/>
          <p:nvPr/>
        </p:nvSpPr>
        <p:spPr>
          <a:xfrm>
            <a:off x="9735312" y="3259723"/>
            <a:ext cx="670560" cy="338554"/>
          </a:xfrm>
          <a:prstGeom prst="rect">
            <a:avLst/>
          </a:prstGeom>
          <a:solidFill>
            <a:srgbClr val="B4C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B</a:t>
            </a:r>
          </a:p>
          <a:p>
            <a:pPr algn="ctr"/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O/P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65F4E0-61A6-6408-6494-97DD557CC636}"/>
              </a:ext>
            </a:extLst>
          </p:cNvPr>
          <p:cNvSpPr txBox="1"/>
          <p:nvPr/>
        </p:nvSpPr>
        <p:spPr>
          <a:xfrm>
            <a:off x="9735312" y="6466445"/>
            <a:ext cx="670560" cy="338554"/>
          </a:xfrm>
          <a:prstGeom prst="rect">
            <a:avLst/>
          </a:prstGeom>
          <a:solidFill>
            <a:srgbClr val="B4C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C</a:t>
            </a:r>
          </a:p>
          <a:p>
            <a:pPr algn="ctr"/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O/P</a:t>
            </a:r>
          </a:p>
        </p:txBody>
      </p:sp>
    </p:spTree>
    <p:extLst>
      <p:ext uri="{BB962C8B-B14F-4D97-AF65-F5344CB8AC3E}">
        <p14:creationId xmlns:p14="http://schemas.microsoft.com/office/powerpoint/2010/main" val="3953252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71072B-EAD8-DC3E-F015-ED11A1564650}"/>
              </a:ext>
            </a:extLst>
          </p:cNvPr>
          <p:cNvSpPr/>
          <p:nvPr/>
        </p:nvSpPr>
        <p:spPr>
          <a:xfrm>
            <a:off x="-672662" y="-441434"/>
            <a:ext cx="13413302" cy="7535654"/>
          </a:xfrm>
          <a:prstGeom prst="roundRect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A5F32-5895-B6FA-7BED-8671B7659F36}"/>
              </a:ext>
            </a:extLst>
          </p:cNvPr>
          <p:cNvSpPr txBox="1"/>
          <p:nvPr/>
        </p:nvSpPr>
        <p:spPr>
          <a:xfrm>
            <a:off x="3604260" y="2921168"/>
            <a:ext cx="4602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24816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5713</TotalTime>
  <Words>587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Jatin Ghai</dc:creator>
  <cp:lastModifiedBy>Jatin Ghai</cp:lastModifiedBy>
  <cp:revision>4</cp:revision>
  <dcterms:created xsi:type="dcterms:W3CDTF">2026-07-24T03:36:03Z</dcterms:created>
  <dcterms:modified xsi:type="dcterms:W3CDTF">2026-07-28T09:53:57Z</dcterms:modified>
</cp:coreProperties>
</file>